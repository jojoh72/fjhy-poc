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C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36576" cy="5760720"/>
          </a:xfrm>
          <a:prstGeom prst="rect">
            <a:avLst/>
          </a:prstGeom>
          <a:solidFill>
            <a:srgbClr val="D4AF6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 / SDAFI WHITEPAPER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五张审计表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Audit-by-Design · 工程化体现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1097280" cy="36576"/>
          </a:xfrm>
          <a:prstGeom prst="rect">
            <a:avLst/>
          </a:prstGeom>
          <a:solidFill>
            <a:srgbClr val="D4AF6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9319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SDAFI 的 S→D→A→F→I 五阶段闭环不只是方法论，在工程上对应五张审计表。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每一次 Agent 决策循环，都会在这五张表中原生留下完整证据，无需任何额外的审计代码。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AAB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Audit Tables — Evidence Native to the Runtime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0" y="6126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Kingsware · Inside 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五张表速览 · 一图回答监管所有提问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8686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5C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· Five Tables Map to Every Regulatory Question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875520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AUDIT TABLES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8076" y="1417320"/>
            <a:ext cx="20574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8076" y="1417320"/>
            <a:ext cx="2057400" cy="822960"/>
          </a:xfrm>
          <a:prstGeom prst="rect">
            <a:avLst/>
          </a:prstGeom>
          <a:solidFill>
            <a:srgbClr val="0F1A3D"/>
          </a:solidFill>
          <a:ln/>
        </p:spPr>
      </p:sp>
      <p:sp>
        <p:nvSpPr>
          <p:cNvPr id="8" name="Text 6"/>
          <p:cNvSpPr/>
          <p:nvPr/>
        </p:nvSpPr>
        <p:spPr>
          <a:xfrm>
            <a:off x="608076" y="158191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 · Sense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9516" y="23774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1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device_pool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1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revenue_pool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499616" y="3383280"/>
            <a:ext cx="274320" cy="27432"/>
          </a:xfrm>
          <a:prstGeom prst="rect">
            <a:avLst/>
          </a:prstGeom>
          <a:solidFill>
            <a:srgbClr val="D4AF6A"/>
          </a:solidFill>
          <a:ln/>
        </p:spPr>
      </p:sp>
      <p:sp>
        <p:nvSpPr>
          <p:cNvPr id="11" name="Text 9"/>
          <p:cNvSpPr/>
          <p:nvPr/>
        </p:nvSpPr>
        <p:spPr>
          <a:xfrm>
            <a:off x="608076" y="35204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spc="300" kern="0" dirty="0">
                <a:solidFill>
                  <a:srgbClr val="5C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监管之问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9516" y="3840480"/>
            <a:ext cx="1874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F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基于什么</a:t>
            </a:r>
            <a:endParaRPr lang="en-US" sz="17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F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数据决策？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8076" y="5029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8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830068" y="1417320"/>
            <a:ext cx="20574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830068" y="1417320"/>
            <a:ext cx="2057400" cy="822960"/>
          </a:xfrm>
          <a:prstGeom prst="rect">
            <a:avLst/>
          </a:prstGeom>
          <a:solidFill>
            <a:srgbClr val="0F1A3D"/>
          </a:solidFill>
          <a:ln/>
        </p:spPr>
      </p:sp>
      <p:sp>
        <p:nvSpPr>
          <p:cNvPr id="16" name="Text 14"/>
          <p:cNvSpPr/>
          <p:nvPr/>
        </p:nvSpPr>
        <p:spPr>
          <a:xfrm>
            <a:off x="2830068" y="158191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· Decide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21508" y="23774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1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cycle_log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21608" y="3383280"/>
            <a:ext cx="274320" cy="27432"/>
          </a:xfrm>
          <a:prstGeom prst="rect">
            <a:avLst/>
          </a:prstGeom>
          <a:solidFill>
            <a:srgbClr val="D4AF6A"/>
          </a:solidFill>
          <a:ln/>
        </p:spPr>
      </p:sp>
      <p:sp>
        <p:nvSpPr>
          <p:cNvPr id="19" name="Text 17"/>
          <p:cNvSpPr/>
          <p:nvPr/>
        </p:nvSpPr>
        <p:spPr>
          <a:xfrm>
            <a:off x="2830068" y="35204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spc="300" kern="0" dirty="0">
                <a:solidFill>
                  <a:srgbClr val="5C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监管之问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21508" y="3840480"/>
            <a:ext cx="1874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F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怎么</a:t>
            </a:r>
            <a:endParaRPr lang="en-US" sz="17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F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决策的？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830068" y="5029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8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052060" y="1417320"/>
            <a:ext cx="20574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52060" y="1417320"/>
            <a:ext cx="2057400" cy="822960"/>
          </a:xfrm>
          <a:prstGeom prst="rect">
            <a:avLst/>
          </a:prstGeom>
          <a:solidFill>
            <a:srgbClr val="0F1A3D"/>
          </a:solidFill>
          <a:ln/>
        </p:spPr>
      </p:sp>
      <p:sp>
        <p:nvSpPr>
          <p:cNvPr id="24" name="Text 22"/>
          <p:cNvSpPr/>
          <p:nvPr/>
        </p:nvSpPr>
        <p:spPr>
          <a:xfrm>
            <a:off x="5052060" y="158191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· Act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43500" y="23774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1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agent_signal_log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0" y="3383280"/>
            <a:ext cx="274320" cy="27432"/>
          </a:xfrm>
          <a:prstGeom prst="rect">
            <a:avLst/>
          </a:prstGeom>
          <a:solidFill>
            <a:srgbClr val="D4AF6A"/>
          </a:solidFill>
          <a:ln/>
        </p:spPr>
      </p:sp>
      <p:sp>
        <p:nvSpPr>
          <p:cNvPr id="27" name="Text 25"/>
          <p:cNvSpPr/>
          <p:nvPr/>
        </p:nvSpPr>
        <p:spPr>
          <a:xfrm>
            <a:off x="5052060" y="35204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spc="300" kern="0" dirty="0">
                <a:solidFill>
                  <a:srgbClr val="5C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监管之问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43500" y="3840480"/>
            <a:ext cx="1874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F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谁触发了</a:t>
            </a:r>
            <a:endParaRPr lang="en-US" sz="17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F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谁？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052060" y="5029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8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274052" y="1417320"/>
            <a:ext cx="20574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74052" y="1417320"/>
            <a:ext cx="2057400" cy="822960"/>
          </a:xfrm>
          <a:prstGeom prst="rect">
            <a:avLst/>
          </a:prstGeom>
          <a:solidFill>
            <a:srgbClr val="0F1A3D"/>
          </a:solidFill>
          <a:ln/>
        </p:spPr>
      </p:sp>
      <p:sp>
        <p:nvSpPr>
          <p:cNvPr id="32" name="Text 30"/>
          <p:cNvSpPr/>
          <p:nvPr/>
        </p:nvSpPr>
        <p:spPr>
          <a:xfrm>
            <a:off x="7274052" y="158191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 · Feedback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65492" y="23774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1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feedback_log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165592" y="3383280"/>
            <a:ext cx="274320" cy="27432"/>
          </a:xfrm>
          <a:prstGeom prst="rect">
            <a:avLst/>
          </a:prstGeom>
          <a:solidFill>
            <a:srgbClr val="D4AF6A"/>
          </a:solidFill>
          <a:ln/>
        </p:spPr>
      </p:sp>
      <p:sp>
        <p:nvSpPr>
          <p:cNvPr id="35" name="Text 33"/>
          <p:cNvSpPr/>
          <p:nvPr/>
        </p:nvSpPr>
        <p:spPr>
          <a:xfrm>
            <a:off x="7274052" y="35204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spc="300" kern="0" dirty="0">
                <a:solidFill>
                  <a:srgbClr val="5C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监管之问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65492" y="3840480"/>
            <a:ext cx="1874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F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预测</a:t>
            </a:r>
            <a:endParaRPr lang="en-US" sz="17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F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准不准？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274052" y="5029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8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9496044" y="1417320"/>
            <a:ext cx="20574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496044" y="1417320"/>
            <a:ext cx="2057400" cy="822960"/>
          </a:xfrm>
          <a:prstGeom prst="rect">
            <a:avLst/>
          </a:prstGeom>
          <a:solidFill>
            <a:srgbClr val="0F1A3D"/>
          </a:solidFill>
          <a:ln/>
        </p:spPr>
      </p:sp>
      <p:sp>
        <p:nvSpPr>
          <p:cNvPr id="40" name="Text 38"/>
          <p:cNvSpPr/>
          <p:nvPr/>
        </p:nvSpPr>
        <p:spPr>
          <a:xfrm>
            <a:off x="9496044" y="158191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· Improve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587484" y="23774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1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improve_log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0387584" y="3383280"/>
            <a:ext cx="274320" cy="27432"/>
          </a:xfrm>
          <a:prstGeom prst="rect">
            <a:avLst/>
          </a:prstGeom>
          <a:solidFill>
            <a:srgbClr val="D4AF6A"/>
          </a:solidFill>
          <a:ln/>
        </p:spPr>
      </p:sp>
      <p:sp>
        <p:nvSpPr>
          <p:cNvPr id="43" name="Text 41"/>
          <p:cNvSpPr/>
          <p:nvPr/>
        </p:nvSpPr>
        <p:spPr>
          <a:xfrm>
            <a:off x="9496044" y="35204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spc="300" kern="0" dirty="0">
                <a:solidFill>
                  <a:srgbClr val="5C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监管之问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587484" y="3840480"/>
            <a:ext cx="1874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F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怎么</a:t>
            </a:r>
            <a:endParaRPr lang="en-US" sz="17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F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修正的？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9496044" y="5029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8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数据池 → 决策 → 协作 → 反馈 → 改进 ：每一阶段都在数据库里留下 SQL 可查的证据。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D9D9E0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金智维 SDAFI · Audit-by-Design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表 1 · device_pool / revenue_pool · 数据池快照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8686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5C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 · Data Pool Snapshot · Sense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875520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AUDIT TABLES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840480" cy="2103120"/>
          </a:xfrm>
          <a:prstGeom prst="rect">
            <a:avLst/>
          </a:prstGeom>
          <a:solidFill>
            <a:srgbClr val="0F1A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"基于什么数据决策？"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CONSTRAINTS · 关键约束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457200" cy="22860"/>
          </a:xfrm>
          <a:prstGeom prst="rect">
            <a:avLst/>
          </a:prstGeom>
          <a:solidFill>
            <a:srgbClr val="D4AF6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16052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每次报告生成时冻结一次快照，snapshot_id 全局唯一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同一报告所有 Agent 看到的数据为同一快照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快照不可变 — 一旦写入，禁止修改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保留至贷款清偿 + 5 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14173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· 业务最低字段集合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709928"/>
            <a:ext cx="457200" cy="22860"/>
          </a:xfrm>
          <a:prstGeom prst="rect">
            <a:avLst/>
          </a:prstGeom>
          <a:solidFill>
            <a:srgbClr val="D4AF6A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874520"/>
          <a:ext cx="69494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6634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字段 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含义 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snapshot_id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全局唯一快照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customer_id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客户号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api_source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来源（例：正菱.企业核心财务指标）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api_field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字段名（例：accounts_receivable_days）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value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字段原始值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observed_at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观测时间戳（精确到秒）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data_pool_type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device_pool / revenue_pool / 其他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hash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字段值哈希（用于完整性校验）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D9D9E0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金智维 SDAFI · Audit-by-Design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表 2 · cycle_log · 决策循环日志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8686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5C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2 · Decision Cycle Log · Decide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875520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AUDIT TABLES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840480" cy="2103120"/>
          </a:xfrm>
          <a:prstGeom prst="rect">
            <a:avLst/>
          </a:prstGeom>
          <a:solidFill>
            <a:srgbClr val="0F1A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"怎么决策的？"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CONSTRAINTS · 关键约束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457200" cy="22860"/>
          </a:xfrm>
          <a:prstGeom prst="rect">
            <a:avLst/>
          </a:prstGeom>
          <a:solidFill>
            <a:srgbClr val="D4AF6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16052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 Agent 调用必须产出一条 cycle_log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输入输出可通过 input_ref / output_ref 完全还原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全文可通过 prompt_template_id 重建（含变量替换）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14173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· 业务最低字段集合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709928"/>
            <a:ext cx="457200" cy="22860"/>
          </a:xfrm>
          <a:prstGeom prst="rect">
            <a:avLst/>
          </a:prstGeom>
          <a:solidFill>
            <a:srgbClr val="D4AF6A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874520"/>
          <a:ext cx="69494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6634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字段 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含义 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cycle_id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单次 Agent 调用的全局唯一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agent_id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例：LE-A05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agent_version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版本号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model_version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大模型版本（如使用）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prompt_template_id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模板版本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input_ref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输入引用（指向数据池快照 + 上游输出）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output_ref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输出引用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rule_hits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命中的业务规则（["阈值超出","行业偏离"]）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started_at / finished_at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时间戳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status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/ partial_success / failed / skipped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D9D9E0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金智维 SDAFI · Audit-by-Design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表 3 · agent_signal_log · Agent 协作信号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8686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5C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3 · Agent Signal Log · Act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875520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AUDIT TABLES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840480" cy="2103120"/>
          </a:xfrm>
          <a:prstGeom prst="rect">
            <a:avLst/>
          </a:prstGeom>
          <a:solidFill>
            <a:srgbClr val="0F1A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"谁触发了谁？"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CONSTRAINTS · 关键约束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457200" cy="22860"/>
          </a:xfrm>
          <a:prstGeom prst="rect">
            <a:avLst/>
          </a:prstGeom>
          <a:solidFill>
            <a:srgbClr val="D4AF6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16052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任意两个 Agent 之间的输入输出必须以信号形式记录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不允许「内存调用」绕过审计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即使是同进程内 Agent 协作也必须经此表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14173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· 业务最低字段集合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709928"/>
            <a:ext cx="457200" cy="22860"/>
          </a:xfrm>
          <a:prstGeom prst="rect">
            <a:avLst/>
          </a:prstGeom>
          <a:solidFill>
            <a:srgbClr val="D4AF6A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874520"/>
          <a:ext cx="69494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6634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字段 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含义 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signal_id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信号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from_agent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上游 Agent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to_agent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下游 Agent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signal_type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data_dependency / trigger / notification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payload_ref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载荷引用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occurred_at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时间戳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D9D9E0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金智维 SDAFI · Audit-by-Design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表 4 · feedback_log · 效果反馈日志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8686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5C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4 · Feedback Log · Feedback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875520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AUDIT TABLES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840480" cy="2103120"/>
          </a:xfrm>
          <a:prstGeom prst="rect">
            <a:avLst/>
          </a:prstGeom>
          <a:solidFill>
            <a:srgbClr val="0F1A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"预测准不准？"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CONSTRAINTS · 关键约束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457200" cy="22860"/>
          </a:xfrm>
          <a:prstGeom prst="rect">
            <a:avLst/>
          </a:prstGeom>
          <a:solidFill>
            <a:srgbClr val="D4AF6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16052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贷后跟踪必须回写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偏差用于驱动 improve_log 中的自修正逻辑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14173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· 业务最低字段集合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709928"/>
            <a:ext cx="457200" cy="22860"/>
          </a:xfrm>
          <a:prstGeom prst="rect">
            <a:avLst/>
          </a:prstGeom>
          <a:solidFill>
            <a:srgbClr val="D4AF6A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874520"/>
          <a:ext cx="69494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6634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字段 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含义 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feedback_id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反馈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customer_id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客户号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report_id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报告号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predicted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预测值（例：评分 78）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actual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实际值（例：3 个月后实际不良）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deviation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偏差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observed_at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观测时间戳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feedback_type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repayment / default / manual_review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D9D9E0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金智维 SDAFI · Audit-by-Design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表 5 · improve_log · 改进轨迹日志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8686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5C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5 · Improvement Log · Improve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875520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AUDIT TABLES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840480" cy="2103120"/>
          </a:xfrm>
          <a:prstGeom prst="rect">
            <a:avLst/>
          </a:prstGeom>
          <a:solidFill>
            <a:srgbClr val="0F1A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"怎么修正的？"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CONSTRAINTS · 关键约束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457200" cy="22860"/>
          </a:xfrm>
          <a:prstGeom prst="rect">
            <a:avLst/>
          </a:prstGeom>
          <a:solidFill>
            <a:srgbClr val="D4AF6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16052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 Agent / Prompt / 阈值 / 模型变更都必须留痕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包括灰度发布、AB 实验、紧急回滚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14173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· 业务最低字段集合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709928"/>
            <a:ext cx="457200" cy="22860"/>
          </a:xfrm>
          <a:prstGeom prst="rect">
            <a:avLst/>
          </a:prstGeom>
          <a:solidFill>
            <a:srgbClr val="D4AF6A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874520"/>
          <a:ext cx="69494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6634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字段 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含义 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improve_id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改进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scope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/ prompt / threshold / model_version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target_id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改动目标（如 LE-A14）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change_summary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变更摘要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before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变更前配置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after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变更后配置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decided_by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决策人（人或自动）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decided_at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时间戳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A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linked_feedback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关联的反馈记录（指向 feedback_log）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D9D9E0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金智维 SDAFI · Audit-by-Design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五表的因果链 · 闭环回到第一张表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8686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5C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Chain · Improve.after Drives Next Decide Loop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875520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AUDIT TABLES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43000" y="1325880"/>
            <a:ext cx="731520" cy="731520"/>
          </a:xfrm>
          <a:prstGeom prst="ellipse">
            <a:avLst/>
          </a:prstGeom>
          <a:solidFill>
            <a:srgbClr val="0F1A3D"/>
          </a:solidFill>
          <a:ln w="19050">
            <a:solidFill>
              <a:srgbClr val="D4AF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25780" y="2286000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A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5780" y="24231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F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2788920"/>
            <a:ext cx="274320" cy="22860"/>
          </a:xfrm>
          <a:prstGeom prst="rect">
            <a:avLst/>
          </a:prstGeom>
          <a:solidFill>
            <a:srgbClr val="D4AF6A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" y="28803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device_pool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revenue_pool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5780" y="3611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数据池快照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10028" y="3108960"/>
            <a:ext cx="283464" cy="201168"/>
          </a:xfrm>
          <a:prstGeom prst="rightArrow">
            <a:avLst/>
          </a:prstGeom>
          <a:solidFill>
            <a:srgbClr val="D4AF6A"/>
          </a:solidFill>
          <a:ln/>
        </p:spPr>
      </p:sp>
      <p:sp>
        <p:nvSpPr>
          <p:cNvPr id="14" name="Shape 12"/>
          <p:cNvSpPr/>
          <p:nvPr/>
        </p:nvSpPr>
        <p:spPr>
          <a:xfrm>
            <a:off x="3429000" y="1325880"/>
            <a:ext cx="731520" cy="731520"/>
          </a:xfrm>
          <a:prstGeom prst="ellipse">
            <a:avLst/>
          </a:prstGeom>
          <a:solidFill>
            <a:srgbClr val="0F1A3D"/>
          </a:solidFill>
          <a:ln w="19050">
            <a:solidFill>
              <a:srgbClr val="D4AF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2811780" y="2286000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A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811780" y="24231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F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0" y="2788920"/>
            <a:ext cx="274320" cy="22860"/>
          </a:xfrm>
          <a:prstGeom prst="rect">
            <a:avLst/>
          </a:prstGeom>
          <a:solidFill>
            <a:srgbClr val="D4AF6A"/>
          </a:solidFill>
          <a:ln/>
        </p:spPr>
      </p:sp>
      <p:sp>
        <p:nvSpPr>
          <p:cNvPr id="19" name="Text 17"/>
          <p:cNvSpPr/>
          <p:nvPr/>
        </p:nvSpPr>
        <p:spPr>
          <a:xfrm>
            <a:off x="2857500" y="28803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cycle_log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11780" y="3611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决策循环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96028" y="3108960"/>
            <a:ext cx="283464" cy="201168"/>
          </a:xfrm>
          <a:prstGeom prst="rightArrow">
            <a:avLst/>
          </a:prstGeom>
          <a:solidFill>
            <a:srgbClr val="D4AF6A"/>
          </a:solidFill>
          <a:ln/>
        </p:spPr>
      </p:sp>
      <p:sp>
        <p:nvSpPr>
          <p:cNvPr id="22" name="Shape 20"/>
          <p:cNvSpPr/>
          <p:nvPr/>
        </p:nvSpPr>
        <p:spPr>
          <a:xfrm>
            <a:off x="5715000" y="1325880"/>
            <a:ext cx="731520" cy="731520"/>
          </a:xfrm>
          <a:prstGeom prst="ellipse">
            <a:avLst/>
          </a:prstGeom>
          <a:solidFill>
            <a:srgbClr val="0F1A3D"/>
          </a:solidFill>
          <a:ln w="19050">
            <a:solidFill>
              <a:srgbClr val="D4AF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5097780" y="2286000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A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97780" y="24231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F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0" y="2788920"/>
            <a:ext cx="274320" cy="22860"/>
          </a:xfrm>
          <a:prstGeom prst="rect">
            <a:avLst/>
          </a:prstGeom>
          <a:solidFill>
            <a:srgbClr val="D4AF6A"/>
          </a:solidFill>
          <a:ln/>
        </p:spPr>
      </p:sp>
      <p:sp>
        <p:nvSpPr>
          <p:cNvPr id="27" name="Text 25"/>
          <p:cNvSpPr/>
          <p:nvPr/>
        </p:nvSpPr>
        <p:spPr>
          <a:xfrm>
            <a:off x="5143500" y="28803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agent_signal_log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97780" y="3611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协作信号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82028" y="3108960"/>
            <a:ext cx="283464" cy="201168"/>
          </a:xfrm>
          <a:prstGeom prst="rightArrow">
            <a:avLst/>
          </a:prstGeom>
          <a:solidFill>
            <a:srgbClr val="D4AF6A"/>
          </a:solidFill>
          <a:ln/>
        </p:spPr>
      </p:sp>
      <p:sp>
        <p:nvSpPr>
          <p:cNvPr id="30" name="Shape 28"/>
          <p:cNvSpPr/>
          <p:nvPr/>
        </p:nvSpPr>
        <p:spPr>
          <a:xfrm>
            <a:off x="8001000" y="1325880"/>
            <a:ext cx="731520" cy="731520"/>
          </a:xfrm>
          <a:prstGeom prst="ellipse">
            <a:avLst/>
          </a:prstGeom>
          <a:solidFill>
            <a:srgbClr val="0F1A3D"/>
          </a:solidFill>
          <a:ln w="19050">
            <a:solidFill>
              <a:srgbClr val="D4AF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0100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7383780" y="2286000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A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383780" y="24231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F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229600" y="2788920"/>
            <a:ext cx="274320" cy="22860"/>
          </a:xfrm>
          <a:prstGeom prst="rect">
            <a:avLst/>
          </a:prstGeom>
          <a:solidFill>
            <a:srgbClr val="D4AF6A"/>
          </a:solidFill>
          <a:ln/>
        </p:spPr>
      </p:sp>
      <p:sp>
        <p:nvSpPr>
          <p:cNvPr id="35" name="Text 33"/>
          <p:cNvSpPr/>
          <p:nvPr/>
        </p:nvSpPr>
        <p:spPr>
          <a:xfrm>
            <a:off x="7429500" y="28803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feedback_log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83780" y="3611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效果反馈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368028" y="3108960"/>
            <a:ext cx="283464" cy="201168"/>
          </a:xfrm>
          <a:prstGeom prst="rightArrow">
            <a:avLst/>
          </a:prstGeom>
          <a:solidFill>
            <a:srgbClr val="D4AF6A"/>
          </a:solidFill>
          <a:ln/>
        </p:spPr>
      </p:sp>
      <p:sp>
        <p:nvSpPr>
          <p:cNvPr id="38" name="Shape 36"/>
          <p:cNvSpPr/>
          <p:nvPr/>
        </p:nvSpPr>
        <p:spPr>
          <a:xfrm>
            <a:off x="10287000" y="1325880"/>
            <a:ext cx="731520" cy="731520"/>
          </a:xfrm>
          <a:prstGeom prst="ellipse">
            <a:avLst/>
          </a:prstGeom>
          <a:solidFill>
            <a:srgbClr val="0F1A3D"/>
          </a:solidFill>
          <a:ln w="19050">
            <a:solidFill>
              <a:srgbClr val="D4AF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8700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600" dirty="0"/>
          </a:p>
        </p:txBody>
      </p:sp>
      <p:sp>
        <p:nvSpPr>
          <p:cNvPr id="40" name="Shape 38"/>
          <p:cNvSpPr/>
          <p:nvPr/>
        </p:nvSpPr>
        <p:spPr>
          <a:xfrm>
            <a:off x="9669780" y="2286000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A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669780" y="24231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F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0515600" y="2788920"/>
            <a:ext cx="274320" cy="22860"/>
          </a:xfrm>
          <a:prstGeom prst="rect">
            <a:avLst/>
          </a:prstGeom>
          <a:solidFill>
            <a:srgbClr val="D4AF6A"/>
          </a:solidFill>
          <a:ln/>
        </p:spPr>
      </p:sp>
      <p:sp>
        <p:nvSpPr>
          <p:cNvPr id="43" name="Text 41"/>
          <p:cNvSpPr/>
          <p:nvPr/>
        </p:nvSpPr>
        <p:spPr>
          <a:xfrm>
            <a:off x="9715500" y="28803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improve_log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669780" y="3611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改进轨迹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641787" y="4114800"/>
            <a:ext cx="22860" cy="411480"/>
          </a:xfrm>
          <a:prstGeom prst="rect">
            <a:avLst/>
          </a:prstGeom>
          <a:solidFill>
            <a:srgbClr val="D4AF6A"/>
          </a:solidFill>
          <a:ln/>
        </p:spPr>
      </p:sp>
      <p:sp>
        <p:nvSpPr>
          <p:cNvPr id="46" name="Shape 44"/>
          <p:cNvSpPr/>
          <p:nvPr/>
        </p:nvSpPr>
        <p:spPr>
          <a:xfrm>
            <a:off x="3794760" y="4515307"/>
            <a:ext cx="6858000" cy="22860"/>
          </a:xfrm>
          <a:prstGeom prst="rect">
            <a:avLst/>
          </a:prstGeom>
          <a:solidFill>
            <a:srgbClr val="D4AF6A"/>
          </a:solidFill>
          <a:ln/>
        </p:spPr>
      </p:sp>
      <p:sp>
        <p:nvSpPr>
          <p:cNvPr id="47" name="Shape 45"/>
          <p:cNvSpPr/>
          <p:nvPr/>
        </p:nvSpPr>
        <p:spPr>
          <a:xfrm>
            <a:off x="3783787" y="4114800"/>
            <a:ext cx="22860" cy="411480"/>
          </a:xfrm>
          <a:prstGeom prst="rect">
            <a:avLst/>
          </a:prstGeom>
          <a:solidFill>
            <a:srgbClr val="D4AF6A"/>
          </a:solidFill>
          <a:ln/>
        </p:spPr>
      </p:sp>
      <p:sp>
        <p:nvSpPr>
          <p:cNvPr id="48" name="Shape 46"/>
          <p:cNvSpPr/>
          <p:nvPr/>
        </p:nvSpPr>
        <p:spPr>
          <a:xfrm>
            <a:off x="3703320" y="3950208"/>
            <a:ext cx="182880" cy="182880"/>
          </a:xfrm>
          <a:prstGeom prst="upArrow">
            <a:avLst/>
          </a:prstGeom>
          <a:solidFill>
            <a:srgbClr val="D4AF6A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闭环 · Improve 的 after 配置驱动下一轮 Decide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48640" y="5349240"/>
            <a:ext cx="11064240" cy="914400"/>
          </a:xfrm>
          <a:prstGeom prst="rect">
            <a:avLst/>
          </a:prstGeom>
          <a:solidFill>
            <a:srgbClr val="0F1A3D"/>
          </a:solidFill>
          <a:ln/>
        </p:spPr>
      </p:sp>
      <p:sp>
        <p:nvSpPr>
          <p:cNvPr id="51" name="Text 49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监管的任何提问  =  对这五张表的一次 SQL 查询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regulatory question maps to a SQL query against the five tables.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D9D9E0"/>
          </a:solidFill>
          <a:ln/>
        </p:spPr>
      </p:sp>
      <p:sp>
        <p:nvSpPr>
          <p:cNvPr id="54" name="Text 52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金智维 SDAFI · Audit-by-Design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C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36576" cy="5760720"/>
          </a:xfrm>
          <a:prstGeom prst="rect">
            <a:avLst/>
          </a:prstGeom>
          <a:solidFill>
            <a:srgbClr val="D4AF6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监管映射 · REGULATORY MAPPING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可查 = 监管可查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Audit-by-Design 不是白皮书里写得好看的承诺 — 而是数据库里能 SQL 查询的事实。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69848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2468880"/>
                <a:gridCol w="4846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0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监管要求 · Regulatory Requirement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0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来源 ·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0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SDAFI 对应能力 · Mapped 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6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信贷决策模型输入输出留痕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银保监现场检查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C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cycle_log + 数据池快照（精确到秒）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可疑交易判定链路可查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反洗钱审计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C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agent_signal_log 全量协作记录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自动化决策可解释性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《个保法》第 24 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C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五表证据链 + 决策路径回放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穿透式监管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穿透式监管要求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C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数据来源 + 模型版本 + 决策结果三位一体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算法备案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网信办算法备案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C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improve_log 记录所有模型参数演化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数据要素流通可审计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公共数据授权运营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C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agent_signal_log 记录所有数据流向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3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166360"/>
            <a:ext cx="10698480" cy="777240"/>
          </a:xfrm>
          <a:prstGeom prst="rect">
            <a:avLst/>
          </a:prstGeom>
          <a:solidFill>
            <a:srgbClr val="D4AF6A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5212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60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合规部门不需要发邮件让科技部门去导日志 — 直接 SQL 查询五张表。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55778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0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这是产品级别的可审计性，不是文档级别。 · Product-grade auditability, not documentation-grade.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B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金智维 SDAFI · Audit-by-Design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Audit-by-Design 五张审计表</dc:title>
  <dc:subject>PptxGenJS Presentation</dc:subject>
  <dc:creator>金智维 · Kingsware</dc:creator>
  <cp:lastModifiedBy>金智维 · Kingsware</cp:lastModifiedBy>
  <cp:revision>1</cp:revision>
  <dcterms:created xsi:type="dcterms:W3CDTF">2026-05-21T13:15:06Z</dcterms:created>
  <dcterms:modified xsi:type="dcterms:W3CDTF">2026-05-21T13:15:06Z</dcterms:modified>
</cp:coreProperties>
</file>